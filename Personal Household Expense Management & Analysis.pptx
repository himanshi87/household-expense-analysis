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3"/>
  </p:notesMasterIdLst>
  <p:handoutMasterIdLst>
    <p:handoutMasterId r:id="rId14"/>
  </p:handoutMasterIdLst>
  <p:sldIdLst>
    <p:sldId id="256" r:id="rId5"/>
    <p:sldId id="277" r:id="rId6"/>
    <p:sldId id="278" r:id="rId7"/>
    <p:sldId id="268" r:id="rId8"/>
    <p:sldId id="262" r:id="rId9"/>
    <p:sldId id="289" r:id="rId10"/>
    <p:sldId id="295" r:id="rId11"/>
    <p:sldId id="29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39DE37-6EB5-4B9F-9248-CA977F457238}" v="13" dt="2026-09-07T13:06:01.062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9" autoAdjust="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anshi Motghare" userId="8a4b54161a465275" providerId="LiveId" clId="{CA111B52-0BEC-472A-8217-5157D9469CAA}"/>
    <pc:docChg chg="custSel modSld">
      <pc:chgData name="Himanshi Motghare" userId="8a4b54161a465275" providerId="LiveId" clId="{CA111B52-0BEC-472A-8217-5157D9469CAA}" dt="2026-09-07T13:06:07.888" v="135" actId="1076"/>
      <pc:docMkLst>
        <pc:docMk/>
      </pc:docMkLst>
      <pc:sldChg chg="modSp mod">
        <pc:chgData name="Himanshi Motghare" userId="8a4b54161a465275" providerId="LiveId" clId="{CA111B52-0BEC-472A-8217-5157D9469CAA}" dt="2026-09-07T11:27:49.490" v="0" actId="1076"/>
        <pc:sldMkLst>
          <pc:docMk/>
          <pc:sldMk cId="1642425379" sldId="256"/>
        </pc:sldMkLst>
        <pc:spChg chg="mod">
          <ac:chgData name="Himanshi Motghare" userId="8a4b54161a465275" providerId="LiveId" clId="{CA111B52-0BEC-472A-8217-5157D9469CAA}" dt="2026-09-07T11:27:49.490" v="0" actId="1076"/>
          <ac:spMkLst>
            <pc:docMk/>
            <pc:sldMk cId="1642425379" sldId="256"/>
            <ac:spMk id="2" creationId="{216815C6-3AD0-46E6-A74A-1967BD91AF50}"/>
          </ac:spMkLst>
        </pc:spChg>
      </pc:sldChg>
      <pc:sldChg chg="addSp delSp modSp mod">
        <pc:chgData name="Himanshi Motghare" userId="8a4b54161a465275" providerId="LiveId" clId="{CA111B52-0BEC-472A-8217-5157D9469CAA}" dt="2026-09-07T13:06:07.888" v="135" actId="1076"/>
        <pc:sldMkLst>
          <pc:docMk/>
          <pc:sldMk cId="1593920805" sldId="262"/>
        </pc:sldMkLst>
        <pc:spChg chg="mod">
          <ac:chgData name="Himanshi Motghare" userId="8a4b54161a465275" providerId="LiveId" clId="{CA111B52-0BEC-472A-8217-5157D9469CAA}" dt="2026-09-07T13:04:41.676" v="125" actId="1076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Himanshi Motghare" userId="8a4b54161a465275" providerId="LiveId" clId="{CA111B52-0BEC-472A-8217-5157D9469CAA}" dt="2026-09-07T13:04:13.568" v="119" actId="21"/>
          <ac:spMkLst>
            <pc:docMk/>
            <pc:sldMk cId="1593920805" sldId="262"/>
            <ac:spMk id="4" creationId="{AC1C80FB-53F9-42EE-B1E6-D0F998EC5DFA}"/>
          </ac:spMkLst>
        </pc:spChg>
        <pc:spChg chg="del mod">
          <ac:chgData name="Himanshi Motghare" userId="8a4b54161a465275" providerId="LiveId" clId="{CA111B52-0BEC-472A-8217-5157D9469CAA}" dt="2026-09-07T13:04:31.374" v="122" actId="21"/>
          <ac:spMkLst>
            <pc:docMk/>
            <pc:sldMk cId="1593920805" sldId="262"/>
            <ac:spMk id="6" creationId="{7E7D4C34-22A0-4D54-A07D-E1E9A11463E5}"/>
          </ac:spMkLst>
        </pc:spChg>
        <pc:spChg chg="add del mod">
          <ac:chgData name="Himanshi Motghare" userId="8a4b54161a465275" providerId="LiveId" clId="{CA111B52-0BEC-472A-8217-5157D9469CAA}" dt="2026-09-07T13:04:17.718" v="120" actId="21"/>
          <ac:spMkLst>
            <pc:docMk/>
            <pc:sldMk cId="1593920805" sldId="262"/>
            <ac:spMk id="7" creationId="{B37EFFE3-98CE-425D-290A-C3A7F6131CD0}"/>
          </ac:spMkLst>
        </pc:spChg>
        <pc:spChg chg="del mod">
          <ac:chgData name="Himanshi Motghare" userId="8a4b54161a465275" providerId="LiveId" clId="{CA111B52-0BEC-472A-8217-5157D9469CAA}" dt="2026-09-07T13:04:23.765" v="121" actId="21"/>
          <ac:spMkLst>
            <pc:docMk/>
            <pc:sldMk cId="1593920805" sldId="262"/>
            <ac:spMk id="8" creationId="{51C26CE0-2506-4B44-A26F-C12BFA5B18B5}"/>
          </ac:spMkLst>
        </pc:spChg>
        <pc:spChg chg="add del mod">
          <ac:chgData name="Himanshi Motghare" userId="8a4b54161a465275" providerId="LiveId" clId="{CA111B52-0BEC-472A-8217-5157D9469CAA}" dt="2026-09-07T13:04:38.832" v="124" actId="21"/>
          <ac:spMkLst>
            <pc:docMk/>
            <pc:sldMk cId="1593920805" sldId="262"/>
            <ac:spMk id="10" creationId="{D87AF388-4154-E999-9BE7-75B06F78AEE9}"/>
          </ac:spMkLst>
        </pc:spChg>
        <pc:spChg chg="add del mod">
          <ac:chgData name="Himanshi Motghare" userId="8a4b54161a465275" providerId="LiveId" clId="{CA111B52-0BEC-472A-8217-5157D9469CAA}" dt="2026-09-07T13:04:35.608" v="123" actId="21"/>
          <ac:spMkLst>
            <pc:docMk/>
            <pc:sldMk cId="1593920805" sldId="262"/>
            <ac:spMk id="12" creationId="{1B3C2DEF-4B6A-AA14-1189-75932F890B4B}"/>
          </ac:spMkLst>
        </pc:spChg>
        <pc:graphicFrameChg chg="add del mod modGraphic">
          <ac:chgData name="Himanshi Motghare" userId="8a4b54161a465275" providerId="LiveId" clId="{CA111B52-0BEC-472A-8217-5157D9469CAA}" dt="2026-09-07T13:05:19.550" v="129" actId="21"/>
          <ac:graphicFrameMkLst>
            <pc:docMk/>
            <pc:sldMk cId="1593920805" sldId="262"/>
            <ac:graphicFrameMk id="3" creationId="{1A62EB66-62D5-E84F-F4C4-772D07367F7B}"/>
          </ac:graphicFrameMkLst>
        </pc:graphicFrameChg>
        <pc:graphicFrameChg chg="add mod">
          <ac:chgData name="Himanshi Motghare" userId="8a4b54161a465275" providerId="LiveId" clId="{CA111B52-0BEC-472A-8217-5157D9469CAA}" dt="2026-09-07T13:06:07.888" v="135" actId="1076"/>
          <ac:graphicFrameMkLst>
            <pc:docMk/>
            <pc:sldMk cId="1593920805" sldId="262"/>
            <ac:graphicFrameMk id="13" creationId="{E1838C5D-EB5F-7695-2057-8A6A15BF2157}"/>
          </ac:graphicFrameMkLst>
        </pc:graphicFrameChg>
      </pc:sldChg>
      <pc:sldChg chg="modSp mod">
        <pc:chgData name="Himanshi Motghare" userId="8a4b54161a465275" providerId="LiveId" clId="{CA111B52-0BEC-472A-8217-5157D9469CAA}" dt="2026-09-07T11:44:46.183" v="40" actId="1076"/>
        <pc:sldMkLst>
          <pc:docMk/>
          <pc:sldMk cId="4151694508" sldId="268"/>
        </pc:sldMkLst>
        <pc:spChg chg="mod">
          <ac:chgData name="Himanshi Motghare" userId="8a4b54161a465275" providerId="LiveId" clId="{CA111B52-0BEC-472A-8217-5157D9469CAA}" dt="2026-09-07T11:44:46.183" v="40" actId="1076"/>
          <ac:spMkLst>
            <pc:docMk/>
            <pc:sldMk cId="4151694508" sldId="268"/>
            <ac:spMk id="9" creationId="{23893889-8B36-B81F-59D3-7D599368D347}"/>
          </ac:spMkLst>
        </pc:spChg>
      </pc:sldChg>
      <pc:sldChg chg="modSp mod">
        <pc:chgData name="Himanshi Motghare" userId="8a4b54161a465275" providerId="LiveId" clId="{CA111B52-0BEC-472A-8217-5157D9469CAA}" dt="2026-09-07T11:41:44.809" v="36" actId="14100"/>
        <pc:sldMkLst>
          <pc:docMk/>
          <pc:sldMk cId="2243494996" sldId="277"/>
        </pc:sldMkLst>
        <pc:spChg chg="mod">
          <ac:chgData name="Himanshi Motghare" userId="8a4b54161a465275" providerId="LiveId" clId="{CA111B52-0BEC-472A-8217-5157D9469CAA}" dt="2026-09-07T11:41:44.809" v="36" actId="14100"/>
          <ac:spMkLst>
            <pc:docMk/>
            <pc:sldMk cId="2243494996" sldId="277"/>
            <ac:spMk id="3" creationId="{35E3EA69-4E0E-41BD-8095-A124225A2647}"/>
          </ac:spMkLst>
        </pc:spChg>
      </pc:sldChg>
      <pc:sldChg chg="addSp delSp modSp mod">
        <pc:chgData name="Himanshi Motghare" userId="8a4b54161a465275" providerId="LiveId" clId="{CA111B52-0BEC-472A-8217-5157D9469CAA}" dt="2026-09-07T11:39:09.531" v="34" actId="20577"/>
        <pc:sldMkLst>
          <pc:docMk/>
          <pc:sldMk cId="1844941827" sldId="289"/>
        </pc:sldMkLst>
        <pc:spChg chg="mod">
          <ac:chgData name="Himanshi Motghare" userId="8a4b54161a465275" providerId="LiveId" clId="{CA111B52-0BEC-472A-8217-5157D9469CAA}" dt="2026-09-07T11:39:09.531" v="34" actId="20577"/>
          <ac:spMkLst>
            <pc:docMk/>
            <pc:sldMk cId="1844941827" sldId="289"/>
            <ac:spMk id="26" creationId="{2A39E957-381A-D7B0-465B-3A20BB37E1D3}"/>
          </ac:spMkLst>
        </pc:spChg>
        <pc:graphicFrameChg chg="add mod modGraphic">
          <ac:chgData name="Himanshi Motghare" userId="8a4b54161a465275" providerId="LiveId" clId="{CA111B52-0BEC-472A-8217-5157D9469CAA}" dt="2026-09-07T11:38:58.491" v="22" actId="20577"/>
          <ac:graphicFrameMkLst>
            <pc:docMk/>
            <pc:sldMk cId="1844941827" sldId="289"/>
            <ac:graphicFrameMk id="4" creationId="{735E6D25-1F61-050F-C0FC-FA695705C6C6}"/>
          </ac:graphicFrameMkLst>
        </pc:graphicFrameChg>
        <pc:graphicFrameChg chg="del modGraphic">
          <ac:chgData name="Himanshi Motghare" userId="8a4b54161a465275" providerId="LiveId" clId="{CA111B52-0BEC-472A-8217-5157D9469CAA}" dt="2026-09-07T11:37:46.121" v="10" actId="21"/>
          <ac:graphicFrameMkLst>
            <pc:docMk/>
            <pc:sldMk cId="1844941827" sldId="289"/>
            <ac:graphicFrameMk id="11" creationId="{EB9B2BA5-02CC-3544-6B5C-8749ECB27B97}"/>
          </ac:graphicFrameMkLst>
        </pc:graphicFrameChg>
        <pc:graphicFrameChg chg="modGraphic">
          <ac:chgData name="Himanshi Motghare" userId="8a4b54161a465275" providerId="LiveId" clId="{CA111B52-0BEC-472A-8217-5157D9469CAA}" dt="2026-09-07T11:38:36.932" v="16" actId="207"/>
          <ac:graphicFrameMkLst>
            <pc:docMk/>
            <pc:sldMk cId="1844941827" sldId="289"/>
            <ac:graphicFrameMk id="24" creationId="{9F573B43-A60E-E247-C87D-1888446F7248}"/>
          </ac:graphicFrameMkLst>
        </pc:graphicFrameChg>
      </pc:sldChg>
      <pc:sldChg chg="modSp mod">
        <pc:chgData name="Himanshi Motghare" userId="8a4b54161a465275" providerId="LiveId" clId="{CA111B52-0BEC-472A-8217-5157D9469CAA}" dt="2026-09-07T11:48:56.705" v="94" actId="20577"/>
        <pc:sldMkLst>
          <pc:docMk/>
          <pc:sldMk cId="2637246629" sldId="297"/>
        </pc:sldMkLst>
        <pc:spChg chg="mod">
          <ac:chgData name="Himanshi Motghare" userId="8a4b54161a465275" providerId="LiveId" clId="{CA111B52-0BEC-472A-8217-5157D9469CAA}" dt="2026-09-07T11:47:21.921" v="72" actId="20577"/>
          <ac:spMkLst>
            <pc:docMk/>
            <pc:sldMk cId="2637246629" sldId="297"/>
            <ac:spMk id="2" creationId="{0F818FA6-E906-F606-8DF9-EFD3E3209E13}"/>
          </ac:spMkLst>
        </pc:spChg>
        <pc:spChg chg="mod">
          <ac:chgData name="Himanshi Motghare" userId="8a4b54161a465275" providerId="LiveId" clId="{CA111B52-0BEC-472A-8217-5157D9469CAA}" dt="2026-09-07T11:47:42.776" v="80"/>
          <ac:spMkLst>
            <pc:docMk/>
            <pc:sldMk cId="2637246629" sldId="297"/>
            <ac:spMk id="3" creationId="{A02FBB98-0FFF-0B9C-452B-EBDD75ED8326}"/>
          </ac:spMkLst>
        </pc:spChg>
        <pc:spChg chg="mod">
          <ac:chgData name="Himanshi Motghare" userId="8a4b54161a465275" providerId="LiveId" clId="{CA111B52-0BEC-472A-8217-5157D9469CAA}" dt="2026-09-07T11:48:56.705" v="94" actId="20577"/>
          <ac:spMkLst>
            <pc:docMk/>
            <pc:sldMk cId="2637246629" sldId="297"/>
            <ac:spMk id="7" creationId="{971AE0A9-8E1E-4CD4-81ED-57E59EE38A8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7776" y="2936147"/>
            <a:ext cx="7003925" cy="1647772"/>
          </a:xfrm>
        </p:spPr>
        <p:txBody>
          <a:bodyPr/>
          <a:lstStyle/>
          <a:p>
            <a:r>
              <a:rPr lang="en-IN" dirty="0"/>
              <a:t>Personal Household Expense Management &amp;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/>
          <a:lstStyle/>
          <a:p>
            <a:r>
              <a:rPr lang="en-US" dirty="0"/>
              <a:t>Presented by : Himanshi Motghare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4538795" cy="1325563"/>
          </a:xfrm>
        </p:spPr>
        <p:txBody>
          <a:bodyPr/>
          <a:lstStyle/>
          <a:p>
            <a:r>
              <a:rPr lang="en-IN" dirty="0"/>
              <a:t>Business Understanding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499919"/>
            <a:ext cx="5797143" cy="2902591"/>
          </a:xfrm>
        </p:spPr>
        <p:txBody>
          <a:bodyPr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Household expenses are difficult to track manually.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Expenses come from different categories such as groceries, utilities, transportation, food, medical and education.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Different family members may contribute money or make expenses.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Payments can be made through Cash, UPI or Net Banking.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Regular and unnecessary expenses are difficult to identify.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 structured database can help </a:t>
            </a:r>
            <a:r>
              <a:rPr lang="en-IN" dirty="0" err="1"/>
              <a:t>analyze</a:t>
            </a:r>
            <a:r>
              <a:rPr lang="en-IN" dirty="0"/>
              <a:t> spending patterns.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/>
          <a:lstStyle/>
          <a:p>
            <a:r>
              <a:rPr lang="en-IN" dirty="0"/>
              <a:t>Objectives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13277" y="1859468"/>
            <a:ext cx="6748243" cy="3928936"/>
          </a:xfrm>
        </p:spPr>
        <p:txBody>
          <a:bodyPr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Maintain household expenses systematically.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Categorize expenses into categories and subcategories.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Track expenses associated with family members.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Record different payment methods.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Track vendors and service providers.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Identify high-value expenses.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Identify recurring expenses.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Compare expenditure across June, July and August.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Identify major spending areas.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Find opportunities to control unnecessary expenditure.</a:t>
            </a: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E912EF-9FCD-251B-9143-1FFFE906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Constraints &amp; Challenges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893889-8B36-B81F-59D3-7D599368D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49809" y="1937857"/>
            <a:ext cx="8114601" cy="4118994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Household data was manually collected.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Some expenses did not have exact dates.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Monthly expenses were available as totals rather than individual transactions.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Payment method information was not available for every expense.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Family member information was limited.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Vendor names were sometimes generic.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Maintaining relationships between different tables was challenging. 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877" y="136525"/>
            <a:ext cx="8421688" cy="1325563"/>
          </a:xfrm>
        </p:spPr>
        <p:txBody>
          <a:bodyPr/>
          <a:lstStyle/>
          <a:p>
            <a:r>
              <a:rPr lang="en-IN" dirty="0"/>
              <a:t>Data Understanding</a:t>
            </a:r>
            <a:endParaRPr lang="en-US" dirty="0"/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1" name="Footer Placeholder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1838C5D-EB5F-7695-2057-8A6A15BF2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390021"/>
              </p:ext>
            </p:extLst>
          </p:nvPr>
        </p:nvGraphicFramePr>
        <p:xfrm>
          <a:off x="1167462" y="1462088"/>
          <a:ext cx="10008078" cy="4351337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3336026">
                  <a:extLst>
                    <a:ext uri="{9D8B030D-6E8A-4147-A177-3AD203B41FA5}">
                      <a16:colId xmlns:a16="http://schemas.microsoft.com/office/drawing/2014/main" val="1855410278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1580559472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171725434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Variable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Examples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Type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667970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Category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Groceries, Utilities, Medical, Education, Clothing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Categorical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890027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Subcategory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Kirana, Petrol, Medicines, College Fees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Categorical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2737012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June Expense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₹9,000, ₹2,500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Numerical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488463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July Expense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₹10,000, ₹2,000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Numerical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849651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August Expense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₹9,500, ₹2,500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Numerical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782454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Payment Method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Cash, UPI, Net Banking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Categorical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513117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Family Member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Me, Father, Sister, Grandmother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Categorical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2591032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Vendor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 Mart, Swiggy, MSEDCL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Categorical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343230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Expense Date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01-06-2026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Date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283099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Amount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₹9,000, ₹2,500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Numerical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13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821" y="570198"/>
            <a:ext cx="5756106" cy="438188"/>
          </a:xfrm>
        </p:spPr>
        <p:txBody>
          <a:bodyPr>
            <a:normAutofit fontScale="90000"/>
          </a:bodyPr>
          <a:lstStyle/>
          <a:p>
            <a:r>
              <a:rPr lang="en-IN" dirty="0"/>
              <a:t>Three-Month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8956" y="1452486"/>
            <a:ext cx="4358386" cy="19765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1400" dirty="0"/>
              <a:t> Compare Three-Month Expenses</a:t>
            </a:r>
          </a:p>
          <a:p>
            <a:r>
              <a:rPr lang="en-US" sz="1400" dirty="0"/>
              <a:t>SELECT</a:t>
            </a:r>
          </a:p>
          <a:p>
            <a:r>
              <a:rPr lang="en-US" sz="1400" dirty="0"/>
              <a:t>    SUM(</a:t>
            </a:r>
            <a:r>
              <a:rPr lang="en-US" sz="1400" dirty="0" err="1"/>
              <a:t>june</a:t>
            </a:r>
            <a:r>
              <a:rPr lang="en-US" sz="1400" dirty="0"/>
              <a:t>) AS </a:t>
            </a:r>
            <a:r>
              <a:rPr lang="en-US" sz="1400" dirty="0" err="1"/>
              <a:t>total_june</a:t>
            </a:r>
            <a:r>
              <a:rPr lang="en-US" sz="1400" dirty="0"/>
              <a:t>,</a:t>
            </a:r>
          </a:p>
          <a:p>
            <a:r>
              <a:rPr lang="en-US" sz="1400" dirty="0"/>
              <a:t>    SUM(</a:t>
            </a:r>
            <a:r>
              <a:rPr lang="en-US" sz="1400" dirty="0" err="1"/>
              <a:t>july</a:t>
            </a:r>
            <a:r>
              <a:rPr lang="en-US" sz="1400" dirty="0"/>
              <a:t>) AS </a:t>
            </a:r>
            <a:r>
              <a:rPr lang="en-US" sz="1400" dirty="0" err="1"/>
              <a:t>total_july</a:t>
            </a:r>
            <a:r>
              <a:rPr lang="en-US" sz="1400" dirty="0"/>
              <a:t>,</a:t>
            </a:r>
          </a:p>
          <a:p>
            <a:r>
              <a:rPr lang="en-US" sz="1400" dirty="0"/>
              <a:t>    SUM(august) AS </a:t>
            </a:r>
            <a:r>
              <a:rPr lang="en-US" sz="1400" dirty="0" err="1"/>
              <a:t>total_august</a:t>
            </a:r>
            <a:endParaRPr lang="en-US" sz="1400" dirty="0"/>
          </a:p>
          <a:p>
            <a:r>
              <a:rPr lang="en-US" sz="1400" dirty="0"/>
              <a:t>FROM </a:t>
            </a:r>
            <a:r>
              <a:rPr lang="en-US" sz="1400" dirty="0" err="1"/>
              <a:t>expense_subcategories</a:t>
            </a:r>
            <a:r>
              <a:rPr lang="en-US" sz="1400" dirty="0"/>
              <a:t>;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09840" y="1452486"/>
            <a:ext cx="5433204" cy="2252451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Major Spending Areas</a:t>
            </a:r>
          </a:p>
          <a:p>
            <a:r>
              <a:rPr lang="en-US" dirty="0"/>
              <a:t>SELECT</a:t>
            </a:r>
          </a:p>
          <a:p>
            <a:r>
              <a:rPr lang="en-US" dirty="0"/>
              <a:t>    </a:t>
            </a:r>
            <a:r>
              <a:rPr lang="en-US" dirty="0" err="1"/>
              <a:t>ec.category_name</a:t>
            </a:r>
            <a:r>
              <a:rPr lang="en-US" dirty="0"/>
              <a:t> AS category,</a:t>
            </a:r>
          </a:p>
          <a:p>
            <a:r>
              <a:rPr lang="en-US" dirty="0"/>
              <a:t>    SUM(</a:t>
            </a:r>
            <a:r>
              <a:rPr lang="en-US" dirty="0" err="1"/>
              <a:t>es.june</a:t>
            </a:r>
            <a:r>
              <a:rPr lang="en-US" dirty="0"/>
              <a:t> + </a:t>
            </a:r>
            <a:r>
              <a:rPr lang="en-US" dirty="0" err="1"/>
              <a:t>es.july</a:t>
            </a:r>
            <a:r>
              <a:rPr lang="en-US" dirty="0"/>
              <a:t> + </a:t>
            </a:r>
            <a:r>
              <a:rPr lang="en-US" dirty="0" err="1"/>
              <a:t>es.august</a:t>
            </a:r>
            <a:r>
              <a:rPr lang="en-US" dirty="0"/>
              <a:t>) AS </a:t>
            </a:r>
            <a:r>
              <a:rPr lang="en-US" dirty="0" err="1"/>
              <a:t>three_month_total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expense_subcategories</a:t>
            </a:r>
            <a:r>
              <a:rPr lang="en-US" dirty="0"/>
              <a:t> es</a:t>
            </a:r>
          </a:p>
          <a:p>
            <a:r>
              <a:rPr lang="en-US" dirty="0"/>
              <a:t>JOIN </a:t>
            </a:r>
            <a:r>
              <a:rPr lang="en-US" dirty="0" err="1"/>
              <a:t>expense_categories</a:t>
            </a:r>
            <a:r>
              <a:rPr lang="en-US" dirty="0"/>
              <a:t> </a:t>
            </a:r>
            <a:r>
              <a:rPr lang="en-US" dirty="0" err="1"/>
              <a:t>ec</a:t>
            </a:r>
            <a:endParaRPr lang="en-US" dirty="0"/>
          </a:p>
          <a:p>
            <a:r>
              <a:rPr lang="en-US" dirty="0"/>
              <a:t>    ON </a:t>
            </a:r>
            <a:r>
              <a:rPr lang="en-US" dirty="0" err="1"/>
              <a:t>es.category_id</a:t>
            </a:r>
            <a:r>
              <a:rPr lang="en-US" dirty="0"/>
              <a:t> = </a:t>
            </a:r>
            <a:r>
              <a:rPr lang="en-US" dirty="0" err="1"/>
              <a:t>ec.category_id</a:t>
            </a:r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ec.category_id</a:t>
            </a:r>
            <a:r>
              <a:rPr lang="en-US" dirty="0"/>
              <a:t>, </a:t>
            </a:r>
            <a:r>
              <a:rPr lang="en-US" dirty="0" err="1"/>
              <a:t>ec.category_name</a:t>
            </a:r>
            <a:endParaRPr lang="en-US" dirty="0"/>
          </a:p>
          <a:p>
            <a:r>
              <a:rPr lang="en-US" dirty="0"/>
              <a:t>ORDER BY </a:t>
            </a:r>
            <a:r>
              <a:rPr lang="en-US" dirty="0" err="1"/>
              <a:t>three_month_total</a:t>
            </a:r>
            <a:r>
              <a:rPr lang="en-US" dirty="0"/>
              <a:t> DESC;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F573B43-A60E-E247-C87D-1888446F7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487581"/>
              </p:ext>
            </p:extLst>
          </p:nvPr>
        </p:nvGraphicFramePr>
        <p:xfrm>
          <a:off x="5886415" y="3704937"/>
          <a:ext cx="3456264" cy="243840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728132">
                  <a:extLst>
                    <a:ext uri="{9D8B030D-6E8A-4147-A177-3AD203B41FA5}">
                      <a16:colId xmlns:a16="http://schemas.microsoft.com/office/drawing/2014/main" val="106595491"/>
                    </a:ext>
                  </a:extLst>
                </a:gridCol>
                <a:gridCol w="1728132">
                  <a:extLst>
                    <a:ext uri="{9D8B030D-6E8A-4147-A177-3AD203B41FA5}">
                      <a16:colId xmlns:a16="http://schemas.microsoft.com/office/drawing/2014/main" val="2913928307"/>
                    </a:ext>
                  </a:extLst>
                </a:gridCol>
              </a:tblGrid>
              <a:tr h="255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Three-Month 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138532"/>
                  </a:ext>
                </a:extLst>
              </a:tr>
              <a:tr h="255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Education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1,12,850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992235"/>
                  </a:ext>
                </a:extLst>
              </a:tr>
              <a:tr h="255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Groceries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45,900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8993870"/>
                  </a:ext>
                </a:extLst>
              </a:tr>
              <a:tr h="255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Food &amp; Dining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13,700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302899"/>
                  </a:ext>
                </a:extLst>
              </a:tr>
              <a:tr h="255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Medical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23035"/>
                  </a:ext>
                </a:extLst>
              </a:tr>
              <a:tr h="255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Utilities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10,567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7113951"/>
                  </a:ext>
                </a:extLst>
              </a:tr>
              <a:tr h="255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Transportation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8,250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4672908"/>
                  </a:ext>
                </a:extLst>
              </a:tr>
              <a:tr h="255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Clothing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7,300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868995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B1DFA10D-4503-947B-4CA5-9F166595F679}"/>
              </a:ext>
            </a:extLst>
          </p:cNvPr>
          <p:cNvSpPr txBox="1"/>
          <p:nvPr/>
        </p:nvSpPr>
        <p:spPr>
          <a:xfrm>
            <a:off x="5778987" y="6171684"/>
            <a:ext cx="4000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+mj-lt"/>
              </a:rPr>
              <a:t>Highest spending category :-Education : 1,12,850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39E957-381A-D7B0-465B-3A20BB37E1D3}"/>
              </a:ext>
            </a:extLst>
          </p:cNvPr>
          <p:cNvSpPr txBox="1"/>
          <p:nvPr/>
        </p:nvSpPr>
        <p:spPr>
          <a:xfrm>
            <a:off x="699916" y="5405514"/>
            <a:ext cx="3483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+mj-lt"/>
              </a:rPr>
              <a:t>Highest spending in month August : 77,179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5E6D25-1F61-050F-C0FC-FA695705C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287691"/>
              </p:ext>
            </p:extLst>
          </p:nvPr>
        </p:nvGraphicFramePr>
        <p:xfrm>
          <a:off x="948956" y="3429000"/>
          <a:ext cx="3071276" cy="1904555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535638">
                  <a:extLst>
                    <a:ext uri="{9D8B030D-6E8A-4147-A177-3AD203B41FA5}">
                      <a16:colId xmlns:a16="http://schemas.microsoft.com/office/drawing/2014/main" val="3871410927"/>
                    </a:ext>
                  </a:extLst>
                </a:gridCol>
                <a:gridCol w="1535638">
                  <a:extLst>
                    <a:ext uri="{9D8B030D-6E8A-4147-A177-3AD203B41FA5}">
                      <a16:colId xmlns:a16="http://schemas.microsoft.com/office/drawing/2014/main" val="3272109935"/>
                    </a:ext>
                  </a:extLst>
                </a:gridCol>
              </a:tblGrid>
              <a:tr h="380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Total Expense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176366"/>
                  </a:ext>
                </a:extLst>
              </a:tr>
              <a:tr h="380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June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66,209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263264"/>
                  </a:ext>
                </a:extLst>
              </a:tr>
              <a:tr h="380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July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66,179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060791"/>
                  </a:ext>
                </a:extLst>
              </a:tr>
              <a:tr h="380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August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77,179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740844"/>
                  </a:ext>
                </a:extLst>
              </a:tr>
              <a:tr h="380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3-Month 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2,09,567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3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A3B03-C3FF-DC7B-5A3F-6B4AB0643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DC61220-FAC1-B615-8B6E-62959A444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8232" y="318783"/>
            <a:ext cx="5209562" cy="5729679"/>
          </a:xfrm>
        </p:spPr>
        <p:txBody>
          <a:bodyPr/>
          <a:lstStyle/>
          <a:p>
            <a:pPr lvl="0"/>
            <a:r>
              <a:rPr lang="en-IN" sz="1200" dirty="0"/>
              <a:t>High-Value Expenses</a:t>
            </a:r>
          </a:p>
          <a:p>
            <a:pPr lvl="0"/>
            <a:r>
              <a:rPr lang="en-IN" sz="1200" dirty="0"/>
              <a:t>SELECT</a:t>
            </a:r>
          </a:p>
          <a:p>
            <a:pPr lvl="0"/>
            <a:r>
              <a:rPr lang="en-IN" sz="1200" dirty="0"/>
              <a:t>    </a:t>
            </a:r>
            <a:r>
              <a:rPr lang="en-IN" sz="1200" dirty="0" err="1"/>
              <a:t>e.expense_id</a:t>
            </a:r>
            <a:r>
              <a:rPr lang="en-IN" sz="1200" dirty="0"/>
              <a:t>,</a:t>
            </a:r>
          </a:p>
          <a:p>
            <a:pPr lvl="0"/>
            <a:r>
              <a:rPr lang="en-IN" sz="1200" dirty="0"/>
              <a:t>    </a:t>
            </a:r>
            <a:r>
              <a:rPr lang="en-IN" sz="1200" dirty="0" err="1"/>
              <a:t>e.expense_date</a:t>
            </a:r>
            <a:r>
              <a:rPr lang="en-IN" sz="1200" dirty="0"/>
              <a:t>,</a:t>
            </a:r>
          </a:p>
          <a:p>
            <a:pPr lvl="0"/>
            <a:r>
              <a:rPr lang="en-IN" sz="1200" dirty="0"/>
              <a:t>    </a:t>
            </a:r>
            <a:r>
              <a:rPr lang="en-IN" sz="1200" dirty="0" err="1"/>
              <a:t>ec.category_name</a:t>
            </a:r>
            <a:r>
              <a:rPr lang="en-IN" sz="1200" dirty="0"/>
              <a:t> AS category,</a:t>
            </a:r>
          </a:p>
          <a:p>
            <a:pPr lvl="0"/>
            <a:r>
              <a:rPr lang="en-IN" sz="1200" dirty="0"/>
              <a:t>    </a:t>
            </a:r>
            <a:r>
              <a:rPr lang="en-IN" sz="1200" dirty="0" err="1"/>
              <a:t>es.subcategory_name</a:t>
            </a:r>
            <a:r>
              <a:rPr lang="en-IN" sz="1200" dirty="0"/>
              <a:t> AS subcategory,</a:t>
            </a:r>
          </a:p>
          <a:p>
            <a:pPr lvl="0"/>
            <a:r>
              <a:rPr lang="en-IN" sz="1200" dirty="0"/>
              <a:t>    </a:t>
            </a:r>
            <a:r>
              <a:rPr lang="en-IN" sz="1200" dirty="0" err="1"/>
              <a:t>e.amount</a:t>
            </a:r>
            <a:r>
              <a:rPr lang="en-IN" sz="1200" dirty="0"/>
              <a:t>,</a:t>
            </a:r>
          </a:p>
          <a:p>
            <a:pPr lvl="0"/>
            <a:r>
              <a:rPr lang="en-IN" sz="1200" dirty="0"/>
              <a:t>    </a:t>
            </a:r>
            <a:r>
              <a:rPr lang="en-IN" sz="1200" dirty="0" err="1"/>
              <a:t>fm.member_name</a:t>
            </a:r>
            <a:r>
              <a:rPr lang="en-IN" sz="1200" dirty="0"/>
              <a:t>,</a:t>
            </a:r>
          </a:p>
          <a:p>
            <a:pPr lvl="0"/>
            <a:r>
              <a:rPr lang="en-IN" sz="1200" dirty="0"/>
              <a:t>    </a:t>
            </a:r>
            <a:r>
              <a:rPr lang="en-IN" sz="1200" dirty="0" err="1"/>
              <a:t>v.vendor_name</a:t>
            </a:r>
            <a:endParaRPr lang="en-IN" sz="1200" dirty="0"/>
          </a:p>
          <a:p>
            <a:pPr lvl="0"/>
            <a:r>
              <a:rPr lang="en-IN" sz="1200" dirty="0"/>
              <a:t>FROM expenses e</a:t>
            </a:r>
          </a:p>
          <a:p>
            <a:pPr lvl="0"/>
            <a:r>
              <a:rPr lang="en-IN" sz="1200" dirty="0"/>
              <a:t>JOIN </a:t>
            </a:r>
            <a:r>
              <a:rPr lang="en-IN" sz="1200" dirty="0" err="1"/>
              <a:t>expense_subcategories</a:t>
            </a:r>
            <a:r>
              <a:rPr lang="en-IN" sz="1200" dirty="0"/>
              <a:t> es</a:t>
            </a:r>
          </a:p>
          <a:p>
            <a:pPr lvl="0"/>
            <a:r>
              <a:rPr lang="en-IN" sz="1200" dirty="0"/>
              <a:t>    ON </a:t>
            </a:r>
            <a:r>
              <a:rPr lang="en-IN" sz="1200" dirty="0" err="1"/>
              <a:t>e.subcategory_id</a:t>
            </a:r>
            <a:r>
              <a:rPr lang="en-IN" sz="1200" dirty="0"/>
              <a:t> = </a:t>
            </a:r>
            <a:r>
              <a:rPr lang="en-IN" sz="1200" dirty="0" err="1"/>
              <a:t>es.subcategory_id</a:t>
            </a:r>
            <a:endParaRPr lang="en-IN" sz="1200" dirty="0"/>
          </a:p>
          <a:p>
            <a:pPr lvl="0"/>
            <a:r>
              <a:rPr lang="en-IN" sz="1200" dirty="0"/>
              <a:t>JOIN </a:t>
            </a:r>
            <a:r>
              <a:rPr lang="en-IN" sz="1200" dirty="0" err="1"/>
              <a:t>expense_categories</a:t>
            </a:r>
            <a:r>
              <a:rPr lang="en-IN" sz="1200" dirty="0"/>
              <a:t> </a:t>
            </a:r>
            <a:r>
              <a:rPr lang="en-IN" sz="1200" dirty="0" err="1"/>
              <a:t>ec</a:t>
            </a:r>
            <a:endParaRPr lang="en-IN" sz="1200" dirty="0"/>
          </a:p>
          <a:p>
            <a:pPr lvl="0"/>
            <a:r>
              <a:rPr lang="en-IN" sz="1200" dirty="0"/>
              <a:t>    ON </a:t>
            </a:r>
            <a:r>
              <a:rPr lang="en-IN" sz="1200" dirty="0" err="1"/>
              <a:t>es.category_id</a:t>
            </a:r>
            <a:r>
              <a:rPr lang="en-IN" sz="1200" dirty="0"/>
              <a:t> = </a:t>
            </a:r>
            <a:r>
              <a:rPr lang="en-IN" sz="1200" dirty="0" err="1"/>
              <a:t>ec.category_id</a:t>
            </a:r>
            <a:endParaRPr lang="en-IN" sz="1200" dirty="0"/>
          </a:p>
          <a:p>
            <a:pPr lvl="0"/>
            <a:r>
              <a:rPr lang="en-IN" sz="1200" dirty="0"/>
              <a:t>LEFT JOIN </a:t>
            </a:r>
            <a:r>
              <a:rPr lang="en-IN" sz="1200" dirty="0" err="1"/>
              <a:t>family_members</a:t>
            </a:r>
            <a:r>
              <a:rPr lang="en-IN" sz="1200" dirty="0"/>
              <a:t> </a:t>
            </a:r>
            <a:r>
              <a:rPr lang="en-IN" sz="1200" dirty="0" err="1"/>
              <a:t>fm</a:t>
            </a:r>
            <a:endParaRPr lang="en-IN" sz="1200" dirty="0"/>
          </a:p>
          <a:p>
            <a:pPr lvl="0"/>
            <a:r>
              <a:rPr lang="en-IN" sz="1200" dirty="0"/>
              <a:t>    ON </a:t>
            </a:r>
            <a:r>
              <a:rPr lang="en-IN" sz="1200" dirty="0" err="1"/>
              <a:t>e.member_id</a:t>
            </a:r>
            <a:r>
              <a:rPr lang="en-IN" sz="1200" dirty="0"/>
              <a:t> = </a:t>
            </a:r>
            <a:r>
              <a:rPr lang="en-IN" sz="1200" dirty="0" err="1"/>
              <a:t>fm.member_id</a:t>
            </a:r>
            <a:endParaRPr lang="en-IN" sz="1200" dirty="0"/>
          </a:p>
          <a:p>
            <a:pPr lvl="0"/>
            <a:r>
              <a:rPr lang="en-IN" sz="1200" dirty="0"/>
              <a:t>LEFT JOIN vendors v</a:t>
            </a:r>
          </a:p>
          <a:p>
            <a:pPr lvl="0"/>
            <a:r>
              <a:rPr lang="en-IN" sz="1200" dirty="0"/>
              <a:t>    ON </a:t>
            </a:r>
            <a:r>
              <a:rPr lang="en-IN" sz="1200" dirty="0" err="1"/>
              <a:t>e.vendor_id</a:t>
            </a:r>
            <a:r>
              <a:rPr lang="en-IN" sz="1200" dirty="0"/>
              <a:t> = </a:t>
            </a:r>
            <a:r>
              <a:rPr lang="en-IN" sz="1200" dirty="0" err="1"/>
              <a:t>v.vendor_id</a:t>
            </a:r>
            <a:endParaRPr lang="en-IN" sz="1200" dirty="0"/>
          </a:p>
          <a:p>
            <a:pPr lvl="0"/>
            <a:r>
              <a:rPr lang="en-IN" sz="1200" dirty="0"/>
              <a:t>WHERE </a:t>
            </a:r>
            <a:r>
              <a:rPr lang="en-IN" sz="1200" dirty="0" err="1"/>
              <a:t>e.amount</a:t>
            </a:r>
            <a:r>
              <a:rPr lang="en-IN" sz="1200" dirty="0"/>
              <a:t> &gt; 5000</a:t>
            </a:r>
          </a:p>
          <a:p>
            <a:pPr lvl="0"/>
            <a:r>
              <a:rPr lang="en-IN" sz="1200" dirty="0"/>
              <a:t>ORDER BY </a:t>
            </a:r>
            <a:r>
              <a:rPr lang="en-IN" sz="1200" dirty="0" err="1"/>
              <a:t>e.amount</a:t>
            </a:r>
            <a:r>
              <a:rPr lang="en-IN" sz="1200" dirty="0"/>
              <a:t> DESC;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A6163-C6F0-37DD-8449-0BE726FD93DD}"/>
              </a:ext>
            </a:extLst>
          </p:cNvPr>
          <p:cNvSpPr txBox="1"/>
          <p:nvPr/>
        </p:nvSpPr>
        <p:spPr>
          <a:xfrm>
            <a:off x="5704514" y="989901"/>
            <a:ext cx="5329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will identify the ₹9,000 Kirana expense as a high-value transaction</a:t>
            </a:r>
          </a:p>
        </p:txBody>
      </p:sp>
    </p:spTree>
    <p:extLst>
      <p:ext uri="{BB962C8B-B14F-4D97-AF65-F5344CB8AC3E}">
        <p14:creationId xmlns:p14="http://schemas.microsoft.com/office/powerpoint/2010/main" val="4107712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7D241-E2CB-6CA2-5555-E0BBF800D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18FA6-E906-F606-8DF9-EFD3E3209E1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578841"/>
            <a:ext cx="4202806" cy="469783"/>
          </a:xfrm>
        </p:spPr>
        <p:txBody>
          <a:bodyPr>
            <a:normAutofit/>
          </a:bodyPr>
          <a:lstStyle/>
          <a:p>
            <a:r>
              <a:rPr lang="en-IN" sz="1800" dirty="0"/>
              <a:t>Based on MY current data</a:t>
            </a:r>
            <a:endParaRPr 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FBB98-0FFF-0B9C-452B-EBDD75ED83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765" y="1219147"/>
            <a:ext cx="3067001" cy="466427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1. August has the highest expenditure</a:t>
            </a:r>
          </a:p>
          <a:p>
            <a:r>
              <a:rPr lang="en-IN" dirty="0"/>
              <a:t>August:</a:t>
            </a:r>
          </a:p>
          <a:p>
            <a:r>
              <a:rPr lang="en-IN" dirty="0"/>
              <a:t>77,179</a:t>
            </a:r>
          </a:p>
          <a:p>
            <a:r>
              <a:rPr lang="en-IN" dirty="0"/>
              <a:t>This is higher than June and July.</a:t>
            </a:r>
          </a:p>
          <a:p>
            <a:r>
              <a:rPr lang="en-IN" b="1" dirty="0"/>
              <a:t>2. Education is a major spending area</a:t>
            </a:r>
          </a:p>
          <a:p>
            <a:r>
              <a:rPr lang="en-IN" dirty="0"/>
              <a:t>Your education expenses include:</a:t>
            </a:r>
          </a:p>
          <a:p>
            <a:pPr lvl="0"/>
            <a:r>
              <a:rPr lang="en-IN" dirty="0"/>
              <a:t>College Fees </a:t>
            </a:r>
          </a:p>
          <a:p>
            <a:pPr lvl="0"/>
            <a:r>
              <a:rPr lang="en-IN" dirty="0"/>
              <a:t>Room Rent </a:t>
            </a:r>
          </a:p>
          <a:p>
            <a:pPr lvl="0"/>
            <a:r>
              <a:rPr lang="en-IN" dirty="0"/>
              <a:t>Mess Rent </a:t>
            </a:r>
          </a:p>
          <a:p>
            <a:pPr lvl="0"/>
            <a:r>
              <a:rPr lang="en-IN" dirty="0"/>
              <a:t>Books &amp; Stationery </a:t>
            </a:r>
          </a:p>
          <a:p>
            <a:pPr lvl="0"/>
            <a:r>
              <a:rPr lang="en-IN" dirty="0"/>
              <a:t>Courses/Training </a:t>
            </a:r>
          </a:p>
          <a:p>
            <a:r>
              <a:rPr lang="en-IN" dirty="0"/>
              <a:t>The large course/training and college-fee amounts make Education one of the largest categories.</a:t>
            </a:r>
          </a:p>
          <a:p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DFF463-C9B9-B567-14F2-E18C3D0DEB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323F9-BCCE-12F8-0FF8-C5D4FB62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716A9-956A-DD60-E06E-104574F7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AE0A9-8E1E-4CD4-81ED-57E59EE38A8B}"/>
              </a:ext>
            </a:extLst>
          </p:cNvPr>
          <p:cNvSpPr txBox="1"/>
          <p:nvPr/>
        </p:nvSpPr>
        <p:spPr>
          <a:xfrm>
            <a:off x="3911307" y="1117715"/>
            <a:ext cx="3737565" cy="4193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 Groceries are a significant household expense</a:t>
            </a:r>
          </a:p>
          <a:p>
            <a:pPr>
              <a:lnSpc>
                <a:spcPct val="150000"/>
              </a:lnSpc>
            </a:pPr>
            <a:r>
              <a:rPr lang="en-I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Kirana, vegetables, fruits and milk together contribute substantially to monthly household spending.</a:t>
            </a:r>
          </a:p>
          <a:p>
            <a:pPr>
              <a:lnSpc>
                <a:spcPct val="150000"/>
              </a:lnSpc>
            </a:pPr>
            <a:r>
              <a:rPr lang="en-IN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 UPI is the most frequently used payment method</a:t>
            </a:r>
          </a:p>
          <a:p>
            <a:pPr>
              <a:lnSpc>
                <a:spcPct val="150000"/>
              </a:lnSpc>
            </a:pPr>
            <a:r>
              <a:rPr lang="en-I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my current 5 individual transactions:</a:t>
            </a:r>
          </a:p>
          <a:p>
            <a:pPr>
              <a:lnSpc>
                <a:spcPct val="150000"/>
              </a:lnSpc>
            </a:pPr>
            <a:r>
              <a:rPr lang="en-IN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UPI = 3 transactions</a:t>
            </a:r>
            <a:endParaRPr lang="en-IN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while Cash and Net Banking have one transaction each.</a:t>
            </a:r>
          </a:p>
          <a:p>
            <a:pPr>
              <a:lnSpc>
                <a:spcPct val="150000"/>
              </a:lnSpc>
            </a:pPr>
            <a:r>
              <a:rPr lang="en-IN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5. Kirana contains a high-value transaction</a:t>
            </a:r>
          </a:p>
          <a:p>
            <a:pPr>
              <a:lnSpc>
                <a:spcPct val="150000"/>
              </a:lnSpc>
            </a:pPr>
            <a:r>
              <a:rPr lang="en-IN" sz="1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Our highest individual transaction currently is:</a:t>
            </a:r>
          </a:p>
          <a:p>
            <a:pPr>
              <a:lnSpc>
                <a:spcPct val="150000"/>
              </a:lnSpc>
            </a:pPr>
            <a:r>
              <a:rPr lang="en-IN" sz="13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₹9,000 — Kirana</a:t>
            </a:r>
            <a:endParaRPr lang="en-IN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IN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246629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144</TotalTime>
  <Words>757</Words>
  <Application>Microsoft Office PowerPoint</Application>
  <PresentationFormat>Widescreen</PresentationFormat>
  <Paragraphs>162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Tenorite</vt:lpstr>
      <vt:lpstr>Monoline</vt:lpstr>
      <vt:lpstr>Personal Household Expense Management &amp; Analysis</vt:lpstr>
      <vt:lpstr>Business Understanding</vt:lpstr>
      <vt:lpstr>Objectives</vt:lpstr>
      <vt:lpstr>Constraints &amp; Challenges</vt:lpstr>
      <vt:lpstr>Data Understanding</vt:lpstr>
      <vt:lpstr>Three-Month Analysis</vt:lpstr>
      <vt:lpstr>PowerPoint Presentation</vt:lpstr>
      <vt:lpstr>Based on MY current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Himanshi Motghare</dc:creator>
  <cp:lastModifiedBy>Himanshi Motghare</cp:lastModifiedBy>
  <cp:revision>1</cp:revision>
  <dcterms:created xsi:type="dcterms:W3CDTF">2026-09-06T14:43:11Z</dcterms:created>
  <dcterms:modified xsi:type="dcterms:W3CDTF">2026-09-07T13:06:12Z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